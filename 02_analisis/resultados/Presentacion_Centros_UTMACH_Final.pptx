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De la Intuicion a la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8CFF"/>
                </a:solidFill>
              </a:rPr>
              <a:t>Data-Driven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063240"/>
            <a:ext cx="82296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D8E8"/>
                </a:solidFill>
              </a:rPr>
              <a:t>Arquitectura de Centros de Investigacion  |  UTMACH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8E8"/>
                </a:solidFill>
              </a:rPr>
              <a:t>Corpus: 2.919 articulos  |  NLP Semantico + K-Means  |  Sistema de Dos Vias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754880"/>
            <a:ext cx="9601200" cy="12801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8E8"/>
                </a:solidFill>
              </a:rPr>
              <a:t>PhD. Ivan Ramirez — Director DIDI   |   MSc. Andree Vitonera   |   MSc. Luiggi Solano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Por que los metodos tradicionales producen centros ineficientes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4572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ERRORES COMUNES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Centros por cuotas de facultad = sesgo politico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3347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Centros por palabras repetidas = falsa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Experimental + Social en el mismo modelo = desperdicio presupuestario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7939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Prioridades a priori = analisis viciado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97280"/>
            <a:ext cx="53949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161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182A"/>
                </a:solidFill>
              </a:rPr>
              <a:t>EL COSTO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Laboratorios financiando proyectos de escritorio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1460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63347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Observatorios pagando reactivos que no usan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33756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45643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Investigadores elite fuera de su area de impacto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160520"/>
            <a:ext cx="5394960" cy="749808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7939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Recursos diluidos  —  impacto institucional minimo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El Gran Descubrimiento: El ADN Cientifico de la UTMACH</a:t>
            </a:r>
          </a:p>
        </p:txBody>
      </p:sp>
      <p:pic>
        <p:nvPicPr>
          <p:cNvPr id="5" name="Picture 4" descr="01_clasificacion_produ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1051560"/>
            <a:ext cx="5943600" cy="50094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340596" y="1097280"/>
            <a:ext cx="2574036" cy="1325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40596" y="1097280"/>
            <a:ext cx="73152" cy="13258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5188" y="1170432"/>
            <a:ext cx="23454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CFF"/>
                </a:solidFill>
              </a:rPr>
              <a:t>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5188" y="1847088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Experimental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0596" y="2560320"/>
            <a:ext cx="2574036" cy="1325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40596" y="2560320"/>
            <a:ext cx="73152" cy="132588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5188" y="2633472"/>
            <a:ext cx="23454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8E"/>
                </a:solidFill>
              </a:rPr>
              <a:t>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5188" y="3310128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Social / Humanistica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0596" y="4023360"/>
            <a:ext cx="2574036" cy="1325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40596" y="402336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5188" y="4096512"/>
            <a:ext cx="23454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A623"/>
                </a:solidFill>
              </a:rPr>
              <a:t>11.6%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5188" y="4773168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Revisiones Bibl.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852160"/>
            <a:ext cx="11457432" cy="7315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5216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47% Experimental vs 41% Social  -&gt;  La UTMACH exige DOS modelos de gestion financiera distintos.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El Sistema de Dos Vias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Una arquitectura financiera diferenciada — no un organigrama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49240" cy="50292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VIA A — CENTROS CIENTIFICOS EXPERIMENTALES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CFF"/>
                </a:solidFill>
              </a:rPr>
              <a:t>Base: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1.371 articulos  (47%)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CFF"/>
                </a:solidFill>
              </a:rPr>
              <a:t>Infraestructura: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514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Laboratorios, reactivos, equipos especializados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CFF"/>
                </a:solidFill>
              </a:rPr>
              <a:t>Presupuesto: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291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ALTO — inversion de capital a largo plazo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4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CFF"/>
                </a:solidFill>
              </a:rPr>
              <a:t>Estructuras: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5 Centros de Investigacion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97280"/>
            <a:ext cx="5349240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16128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82A"/>
                </a:solidFill>
              </a:rPr>
              <a:t>VIA B — OBSERVATORIOS SOCIALES Y HUMANISTICOS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4592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737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8E"/>
                </a:solidFill>
              </a:rPr>
              <a:t>Base: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737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1.209 articulos  (41.4%)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42316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8E"/>
                </a:solidFill>
              </a:rPr>
              <a:t>Infraestructura: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514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Software, bases de datos, plataformas digitales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20040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8E"/>
                </a:solidFill>
              </a:rPr>
              <a:t>Presupuesto: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91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MODERADO — gestion agil y flexible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977640"/>
            <a:ext cx="5349240" cy="7132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8E"/>
                </a:solidFill>
              </a:rPr>
              <a:t>Estructuras: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E8"/>
                </a:solidFill>
              </a:rPr>
              <a:t>5 Observatorios Academicos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097280"/>
            <a:ext cx="54864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VIA A — Los 5 Centros Cientificos Experimentales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Impacto ponderado: la metrica que supera al conteo de articulos</a:t>
            </a:r>
          </a:p>
        </p:txBody>
      </p:sp>
      <p:pic>
        <p:nvPicPr>
          <p:cNvPr id="6" name="Picture 5" descr="02_impacto_por_ce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1024128"/>
            <a:ext cx="5669280" cy="31869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11996" y="1051560"/>
            <a:ext cx="2848356" cy="38404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78591" y="10972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4471" y="10972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Impacto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11996" y="1435608"/>
            <a:ext cx="2848356" cy="877824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1996" y="1435608"/>
            <a:ext cx="54864" cy="87782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1724" y="1490472"/>
            <a:ext cx="148114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Ingenieria y Analisis Cuantitativo (II)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8591" y="1618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D8E8"/>
                </a:solidFill>
              </a:rPr>
              <a:t>366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67311" y="161848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204.5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11996" y="2359152"/>
            <a:ext cx="2848356" cy="877824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11996" y="2359152"/>
            <a:ext cx="54864" cy="87782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1724" y="2414016"/>
            <a:ext cx="148114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Ciencias Quimicas y Ambientales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8591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D8E8"/>
                </a:solidFill>
              </a:rPr>
              <a:t>278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67311" y="254203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CFF"/>
                </a:solidFill>
              </a:rPr>
              <a:t>138.2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1996" y="3282696"/>
            <a:ext cx="2848356" cy="877824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11996" y="3282696"/>
            <a:ext cx="54864" cy="87782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1724" y="3337560"/>
            <a:ext cx="148114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Ingenieria y Analisis Cuantitativo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8591" y="346557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D8E8"/>
                </a:solidFill>
              </a:rPr>
              <a:t>284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67311" y="3465576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CFF"/>
                </a:solidFill>
              </a:rPr>
              <a:t>137.2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11996" y="4206240"/>
            <a:ext cx="2848356" cy="877824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11996" y="4206240"/>
            <a:ext cx="54864" cy="877824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1724" y="4261104"/>
            <a:ext cx="148114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Salud Integral y Biociencias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78591" y="4389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D8E8"/>
                </a:solidFill>
              </a:rPr>
              <a:t>265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67311" y="43891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8E"/>
                </a:solidFill>
              </a:rPr>
              <a:t>126.6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11996" y="5129784"/>
            <a:ext cx="2848356" cy="877824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11996" y="5129784"/>
            <a:ext cx="54864" cy="877824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1724" y="5184648"/>
            <a:ext cx="148114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Agroalimentaria y Sostenibilidad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8591" y="531266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D8E8"/>
                </a:solidFill>
              </a:rPr>
              <a:t>178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67311" y="531266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8E"/>
                </a:solidFill>
              </a:rPr>
              <a:t> 91.2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VIA B — Los 5 Observatorios Sociales y Humanisticos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Gestion agil, alto volumen, transferencia al sector publico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57432" cy="950976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9509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Obs. de Economia, Empresa e Innovacion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91056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8E8"/>
                </a:solidFill>
              </a:rPr>
              <a:t>El mas grande de la institucion — 18.7% de toda la produccion UTMACH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1521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48132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D8E8"/>
                </a:solidFill>
              </a:rPr>
              <a:t>547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1521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Impacto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48132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269.6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1521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Prom.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48132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0.493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21408"/>
            <a:ext cx="11457432" cy="950976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121408"/>
            <a:ext cx="73152" cy="950976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Obs. Multidisciplinario de Ciencias y Sociedad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1518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8E8"/>
                </a:solidFill>
              </a:rPr>
              <a:t>Mayor promedio de impacto de la Via B  (41 articulos Q1)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1762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Arts.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50545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D8E8"/>
                </a:solidFill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1762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Impacto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50545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128.3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1762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Prom.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250545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8E"/>
                </a:solidFill>
              </a:rPr>
              <a:t>0.642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45536"/>
            <a:ext cx="11457432" cy="950976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145536"/>
            <a:ext cx="73152" cy="9509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Obs. de Educacion y Formacion Profesional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3931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8E8"/>
                </a:solidFill>
              </a:rPr>
              <a:t>Alta demanda editorial — pilar de Ciencias de la Educacion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20040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Arts.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2958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D8E8"/>
                </a:solidFill>
              </a:rPr>
              <a:t>241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20040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Impacto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52958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114.4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20040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Prom.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52958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CFF"/>
                </a:solidFill>
              </a:rPr>
              <a:t>0.475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69664"/>
            <a:ext cx="11457432" cy="950976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169664"/>
            <a:ext cx="73152" cy="9509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224528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Obs. de Derecho y Justicia Social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6344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8E8"/>
                </a:solidFill>
              </a:rPr>
              <a:t>10 articulos Q1 — eficiencia de impacto notable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22452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Arts.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55371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D8E8"/>
                </a:solidFill>
              </a:rPr>
              <a:t>127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22452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Impacto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55371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 64.8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422452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Prom.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455371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CFF"/>
                </a:solidFill>
              </a:rPr>
              <a:t>0.510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193792"/>
            <a:ext cx="11457432" cy="950976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193792"/>
            <a:ext cx="73152" cy="950976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24865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Obs. de Desarrollo Social y Politicas Publicas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68756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8E8"/>
                </a:solidFill>
              </a:rPr>
              <a:t>Nicho estrategico: consultoria y evaluacion de politica publica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2486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Arts.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5778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D8E8"/>
                </a:solidFill>
              </a:rPr>
              <a:t> 94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2486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Impacto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5778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 50.5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52486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Prom.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55778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D8E8"/>
                </a:solidFill>
              </a:rPr>
              <a:t>0.537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Calidad vs. Cantidad: El Analisis de Cuartiles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El volumen no equivale a impacto — los cuartiles revelan la verdad</a:t>
            </a:r>
          </a:p>
        </p:txBody>
      </p:sp>
      <p:pic>
        <p:nvPicPr>
          <p:cNvPr id="6" name="Picture 5" descr="03_cuartiles_por_ce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024128"/>
            <a:ext cx="8686800" cy="3925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114028"/>
            <a:ext cx="11274552" cy="142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5A623"/>
                </a:solidFill>
              </a:rPr>
              <a:t>-&gt;  El cluster con mayor impacto ponderado (0.639): Ingenieria Cuantitativa II  con Q1=33 y Q2=31 sobre 366 articulos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00C98E"/>
                </a:solidFill>
              </a:rPr>
              <a:t>-&gt;  Obs. Multidisciplinario lidera en Q1 de la Via B: 41 articulos Q1 + 23 Q2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008CFF"/>
                </a:solidFill>
              </a:rPr>
              <a:t>-&gt;  Quimicas/Ambiental: alto volumen pero domina Q3/Q4 — necesita estrategia de upgrade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-&gt;  La metrica que guia la asignacion: impacto ponderado, no contador de papers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Masa Critica IPPC: Con Quien Activamos los Centros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Investigadores clasificados por percentil de productividad individual</a:t>
            </a:r>
          </a:p>
        </p:txBody>
      </p:sp>
      <p:pic>
        <p:nvPicPr>
          <p:cNvPr id="6" name="Picture 5" descr="05_masa_critica_ip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6" y="1024128"/>
            <a:ext cx="8229600" cy="47329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21662"/>
            <a:ext cx="11274552" cy="61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5A623"/>
                </a:solidFill>
              </a:rPr>
              <a:t>-&gt;  Elite (&gt;=P90): directores naturales de los nuevos centros — nucleo irremplazable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008CFF"/>
                </a:solidFill>
              </a:rPr>
              <a:t>-&gt;  Consolidados (P50-P89): columna vertebral operativa de cada Centro/Observatorio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00C98E"/>
                </a:solidFill>
              </a:rPr>
              <a:t>-&gt;  FCQS y FCA validan su rol como matrices experimentales con investigadores Elite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-&gt;  Proximo paso Fase C: cruzar IPPC Elite x cluster tematico -&gt; asignacion individual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Top Lineas de I+D por Tipo de Investigacion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Sobre estas lineas productivas nacen los reglamentos — no hay genericos</a:t>
            </a:r>
          </a:p>
        </p:txBody>
      </p:sp>
      <p:pic>
        <p:nvPicPr>
          <p:cNvPr id="6" name="Picture 5" descr="04_top_lineas_por_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024128"/>
            <a:ext cx="8686800" cy="4429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17919"/>
            <a:ext cx="11274552" cy="9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008CFF"/>
                </a:solidFill>
              </a:rPr>
              <a:t>-&gt;  Via A experimental: Ambiente, Sistemas Agroalimentarios, Salud, Ingenieria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00C98E"/>
                </a:solidFill>
              </a:rPr>
              <a:t>-&gt;  Via B social: Economia/Empresa, Procesos Educativos, Justicia y Gobernabilidad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5A623"/>
                </a:solidFill>
              </a:rPr>
              <a:t>-&gt;  3-5 lineas formales por Centro/Observatorio — con produccion demostrada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-&gt;  Base tecnica para el Reglamento General (Fase D, Abril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Roadmap &amp;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CFF"/>
                </a:solidFill>
              </a:rPr>
              <a:t>Arquitectura validada. Siguiente paso: aprobar e iniciar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57432" cy="45720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61288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82A"/>
                </a:solidFill>
              </a:rPr>
              <a:t>COMPLETADO -- Fase A: Diagnostico (Feb 2026)  |  Fase B: Analisis completo (Mar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394960" cy="4114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824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82A"/>
                </a:solidFill>
              </a:rPr>
              <a:t>FASE C — Propuesta  (Mar-Abr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2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671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C.1  Cruzar IPPC Elite con clusters tematicos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60904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432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C.2  Propuestas tecnicas por Centro/Observatorio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36976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31927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C.3  Definicion formal de lineas de investigacion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13048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8953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C.4  Presentacion a Consejos de Facultad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27632"/>
            <a:ext cx="53949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6824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82A"/>
                </a:solidFill>
              </a:rPr>
              <a:t>FASE D — Reglamentacion  (Abr 2026)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84832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1671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D.1  Revision normativa: LOES, CES, Estatuto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60904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7432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D.2  Redaccion del Reglamento General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36976"/>
            <a:ext cx="5394960" cy="53035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31927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8E8"/>
                </a:solidFill>
              </a:rPr>
              <a:t>D.3  Aprobacion por Consejo Universitario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74920"/>
            <a:ext cx="11457432" cy="137160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074920"/>
            <a:ext cx="9144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663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DECISION REQUERIDA HOY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23560"/>
            <a:ext cx="110916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Arquitectura validada. Aprobar e iniciar asignacion de IPPC Elite a Centros y redaccion del Reglamento General para aprobacion por Consejo Universitario.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20256"/>
            <a:ext cx="85322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E8"/>
                </a:solidFill>
              </a:rPr>
              <a:t>UTMACH  |  DIDI  |  Marzo 2026  |  2.919 articulos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620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8E8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