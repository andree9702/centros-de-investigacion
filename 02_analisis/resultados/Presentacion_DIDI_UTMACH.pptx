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 la Intuición a la Evidencia: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7AC3"/>
                </a:solidFill>
              </a:rPr>
              <a:t>Una Arquitectura de Investigación Data-Driven para la UTMACH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FD8E0"/>
                </a:solidFill>
              </a:rPr>
              <a:t>Propuesta de Sistema de Dos Vías —  Centros Científico-Experimentales  &amp;  Observatorios Sociales/Humanísticos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Corpus analizado: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1188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2.919 artículos científicos — producción histórica UTMACH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Metodología: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95935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NLP semántico + Embeddings + K-Means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068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Equipo: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682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PhD. Ivan Ramirez (DIDI)  ·  MSc. Andreé Vitonera  ·  MSc. Luiggi Solano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542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Fecha: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65429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Marzo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0972800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076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A623"/>
                </a:solidFill>
              </a:rPr>
              <a:t>"Lo que van a ver hoy no es una propuesta de centros. Es el resultado de dejar que los datos de la propia UTMACH hablen por sí mismos."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Por qué el Método Tradicional Falla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El costo estratégico de crear centros sin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38404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❌  EL MODELO ANTIGUO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Crear centros por «palabras repetidas en títulos»
→ agrupa vocabulario, no conocimiento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Asignar cuotas por facultad
→ sesgos políticos sobre evidencia científica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Tratar igual la investigación experimental
y la documental → presupuestos incorrectos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Priorizar facultades a priori
→ sesga el análisis antes de comenzar (Registro 007)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70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⚠  EL COSTO ESTRATÉGICO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39496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733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Laboratorios financiando proyectos de escritorio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39496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59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Observatorios sociales pagando reactivos que nunca usarán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71800"/>
            <a:ext cx="539496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449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Investigadores élite en centros fuera de su línea de impacto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657600"/>
            <a:ext cx="539496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307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Recursos diluidos · impacto institucional mínimo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143000"/>
            <a:ext cx="36576" cy="320040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715000"/>
            <a:ext cx="1143000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5A623"/>
                </a:solidFill>
              </a:rPr>
              <a:t>"Un centro diseñado por cuota política no produce ciencia. Produce burocracia."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Innovación Metodológica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NLP + Semántica + Ponderación por Impacto — cómo lo resolvimos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280160"/>
            <a:ext cx="2560320" cy="173736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DATOS BRUTOS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10312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2.919 artículos
Títulos · Abstracts
Líneas · Campos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1874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B0B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1280160"/>
            <a:ext cx="2560320" cy="173736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CLASIFICADOR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10312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Léxico semántico
Exp. vs Social
vs Bibliográfica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1874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B0B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280160"/>
            <a:ext cx="2560320" cy="1737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CLUSTERING K-MEANS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0312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Silhouette Score
K=20 óptimo
TF-IDF + bigramas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874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B0B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34856" y="1280160"/>
            <a:ext cx="2560320" cy="173736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PONDERACIÓN Q1-Q4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10312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Q1=1.0 / Q2=0.9
Q3=0.8 / Q4=0.7
Latindex=0.2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46120"/>
            <a:ext cx="11430000" cy="36576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8A"/>
                </a:solidFill>
              </a:rPr>
              <a:t>✅  Eliminación de prioridades a priori — los datos determinan las fortalezas  (Registro 007)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8A"/>
                </a:solidFill>
              </a:rPr>
              <a:t>✅  Clasificación Experimental vs. Social antes del clustering → inversión diferenciada  (Registro 010)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✅  Ponderación aprobada: «No es lo mismo 100 artículos Latindex que 50 Q1»  (Registro 008)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✅  87.3% de artículos sin cuartil Scopus/WoS → la ponderación es aún más crítica  (Registro 009)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El Gran Descubrimiento: La Epistemología de la UTMACH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¿Qué tipo de universidad es la UTMACH? Los datos responden</a:t>
            </a:r>
          </a:p>
        </p:txBody>
      </p:sp>
      <p:pic>
        <p:nvPicPr>
          <p:cNvPr id="6" name="Picture 5" descr="01_clasificacion_produ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77" y="1097280"/>
            <a:ext cx="4339645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188720"/>
            <a:ext cx="914400" cy="100584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3258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47.0%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188720"/>
            <a:ext cx="4572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234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3"/>
                </a:solidFill>
              </a:rPr>
              <a:t>EXPERIMENTAL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1.371 artículos
Trabajo de laboratorio, campo o clínico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31720"/>
            <a:ext cx="914400" cy="100584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4688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41.4%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331720"/>
            <a:ext cx="4572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8A"/>
                </a:solidFill>
              </a:rPr>
              <a:t>CS / HUMANÍSTICAS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697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1.209 artículos
Teóricos, documentales, socioeconómicos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91440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118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11.6%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3474720"/>
            <a:ext cx="4572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REVISIONES BIBL.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339 artículos
Meta-análisis, estados del arte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63440"/>
            <a:ext cx="5577840" cy="9144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736592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 UTMACH tiene DOS ADNs científicos de igual peso.
Financiarlos con la misma lógica presupuestaria es un error técnico y financiero.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El Nuevo Paradigma: El Sistema de Dos Vías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Una arquitectura financiera inteligente para dos ciencias diferentes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45720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🔬  VÍA A — CENTROS CIENTÍFICO-EXPERIMENTALES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394960" cy="4206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3"/>
                </a:solidFill>
              </a:rPr>
              <a:t>Base científica: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830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1.371 artículos (47.0%)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3"/>
                </a:solidFill>
              </a:rPr>
              <a:t>Infraestructura: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231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Laboratorios · reactivos · equipos especializados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3"/>
                </a:solidFill>
              </a:rPr>
              <a:t>Operación: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063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Protocolo rígido · bioseguridad · cadena de frío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3"/>
                </a:solidFill>
              </a:rPr>
              <a:t>Presupuesto: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7033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Alto / Inversión de capital a largo plazo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3"/>
                </a:solidFill>
              </a:rPr>
              <a:t>Estructuras: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3434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4 Macro-Centros de Investigación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188720"/>
            <a:ext cx="5394960" cy="4572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43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VÍA B — OBSERVATORIOS SOCIALES/HUMANÍSTICOS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645920"/>
            <a:ext cx="5394960" cy="4206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830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8A"/>
                </a:solidFill>
              </a:rPr>
              <a:t>Base científica: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7830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1.209 artículos (41.4%)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231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8A"/>
                </a:solidFill>
              </a:rPr>
              <a:t>Infraestructura: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4231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Software · bases de datos · plataformas digitales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063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8A"/>
                </a:solidFill>
              </a:rPr>
              <a:t>Operación: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063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Gestión ágil · trabajo remoto · encuestadores de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03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8A"/>
                </a:solidFill>
              </a:rPr>
              <a:t>Presupuesto: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7033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Moderado / Operación flexible y ágil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434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8A"/>
                </a:solidFill>
              </a:rPr>
              <a:t>Estructuras: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3434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4 Macro-Observatorios Académicos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188720"/>
            <a:ext cx="54864" cy="4663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VS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A623"/>
                </a:solidFill>
              </a:rPr>
              <a:t>Dos vías, una sola estrategia: asignar recursos donde existe capacidad instalada real.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VÍA A — Los 4 Centros Científico-Experimentales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Masa crítica e impacto ponderado demostrado</a:t>
            </a:r>
          </a:p>
        </p:txBody>
      </p:sp>
      <p:pic>
        <p:nvPicPr>
          <p:cNvPr id="6" name="Picture 5" descr="02_impacto_por_ce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52" y="1097280"/>
            <a:ext cx="4868246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023360"/>
            <a:ext cx="5349240" cy="32004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599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CENTRO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4023360"/>
            <a:ext cx="1874520" cy="32004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ARTÍCULOS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4023360"/>
            <a:ext cx="1600200" cy="32004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0599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IMPACTO PON.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4023360"/>
            <a:ext cx="1600200" cy="32004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40599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43400"/>
            <a:ext cx="11430000" cy="42062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343400"/>
            <a:ext cx="64008" cy="42062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Ciencias Químicas y Ambientales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0740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440740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138.2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40740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82312"/>
            <a:ext cx="114300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82312"/>
            <a:ext cx="64008" cy="42062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Experimental General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8463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846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137.2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846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21224"/>
            <a:ext cx="11430000" cy="42062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221224"/>
            <a:ext cx="64008" cy="42062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852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Salud Integral y Biociencias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28523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52852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126.6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2852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0.478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60136"/>
            <a:ext cx="114300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660136"/>
            <a:ext cx="64008" cy="42062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72414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Agroalimentaria y Sostenibilidad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72414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57241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 91.2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7241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VÍA B — Los 4 Observatorios Sociales/Humanísticos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El mayor volumen de producción de la UTMACH — gestión ágil y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91440" cy="105156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3385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Economía, Empresa e Innovación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El más grande de la institución (18.7% de toda la producción).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Artículos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6420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D8E0"/>
                </a:solidFill>
              </a:rPr>
              <a:t>547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Impacto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66420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269.6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Prom.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166420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3"/>
                </a:solidFill>
              </a:rPr>
              <a:t>0.493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41448"/>
            <a:ext cx="91440" cy="105156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41448"/>
            <a:ext cx="113385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328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Educación y Formación Profesional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71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Alta demanda de publicación. Pilar de la FEDU.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Artículos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82549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D8E0"/>
                </a:solidFill>
              </a:rPr>
              <a:t>241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Impacto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82549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114.4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Prom.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82549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3"/>
                </a:solidFill>
              </a:rPr>
              <a:t>0.475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02736"/>
            <a:ext cx="9144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02736"/>
            <a:ext cx="113385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6941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Derecho y Justicia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1330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10 artículos Q1 — mayor eficiencia Q1 de la Vía 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94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Artículos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86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D8E0"/>
                </a:solidFill>
              </a:rPr>
              <a:t>127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694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Impacto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986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 64.8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694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Prom.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9867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3"/>
                </a:solidFill>
              </a:rPr>
              <a:t>0.510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64024"/>
            <a:ext cx="91440" cy="105156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764024"/>
            <a:ext cx="113385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5546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Desarrollo Social y Políticas Públicas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943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Nicho estratégico para consultoría y políticas públicas.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8554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Artículos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1480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D8E0"/>
                </a:solidFill>
              </a:rPr>
              <a:t> 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8554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Impacto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51480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 50.5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48554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Prom.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1480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3"/>
                </a:solidFill>
              </a:rPr>
              <a:t>0.537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8338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💡  Costo operativo reducido: sin laboratorios. Inversión en software analítico, licencias de bases de datos y encuestas de campo.
🔗  Potencial de consultoría y transferencia de conocimiento al sector público y privado.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Calidad vs. Cantidad: El Análisis de Cuartiles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Más artículos no significa más impacto — los cuartiles revelan la verdad</a:t>
            </a:r>
          </a:p>
        </p:txBody>
      </p:sp>
      <p:pic>
        <p:nvPicPr>
          <p:cNvPr id="6" name="Picture 5" descr="03_cuartiles_por_ce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196" y="1097280"/>
            <a:ext cx="7082559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526280"/>
            <a:ext cx="1143000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943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🏆  Clúster Experimental 6 lidera en calidad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61772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Solo 179 artículos pero Q1=29 · Q2=30 · Prom. ponderado: 0.639 — el más alto de toda la Vía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48072"/>
            <a:ext cx="1143000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2122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8A"/>
                </a:solidFill>
              </a:rPr>
              <a:t>📈  Obs. Social Clúster 4 lidera en Vía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5239512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41 artículos Q1 + 23 Q2 — mayor potencial de visibilidad internacional en la Vía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769864"/>
            <a:ext cx="1143000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4301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B3B"/>
                </a:solidFill>
              </a:rPr>
              <a:t>⚠  C. Químicas/Ambiental requiere estrategia de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86130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Alto volumen (278 art.) pero domina Q3/Q4 → focalizar en revistas Q1-Q2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00800"/>
            <a:ext cx="11430000" cy="182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</a:rPr>
              <a:t>La métrica de éxito no es cuánto se publica. Es DÓNDE se publica. 1 artículo Q1 = 5 artículos Q4 en impacto institucional.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Los Líderes de la Transformación: Masa Crítica IPPC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¿Con quién llenamos estos centros? El talento identificado por datos</a:t>
            </a:r>
          </a:p>
        </p:txBody>
      </p:sp>
      <p:pic>
        <p:nvPicPr>
          <p:cNvPr id="6" name="Picture 5" descr="05_masa_critica_ip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1" y="1097280"/>
            <a:ext cx="5246837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40880" y="1188720"/>
            <a:ext cx="48463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188720"/>
            <a:ext cx="109728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ÉLITE  ≥ P90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444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FD8E0"/>
                </a:solidFill>
              </a:rPr>
              <a:t>Núcleo irremplazable. Directores naturales de los nuevos centros.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783080"/>
            <a:ext cx="48463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1783080"/>
            <a:ext cx="109728" cy="50292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801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3"/>
                </a:solidFill>
              </a:rPr>
              <a:t>CONSOLIDADOS  P50-P89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39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FD8E0"/>
                </a:solidFill>
              </a:rPr>
              <a:t>Columna vertebral. Investigadores con trayectoria sostenida.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377440"/>
            <a:ext cx="48463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2377440"/>
            <a:ext cx="109728" cy="5029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957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8A"/>
                </a:solidFill>
              </a:rPr>
              <a:t>EN DESARROLLO  P25-P49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33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FD8E0"/>
                </a:solidFill>
              </a:rPr>
              <a:t>Pipeline futuro. Candidatos a programas de mentoría.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971800"/>
            <a:ext cx="48463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2971800"/>
            <a:ext cx="109728" cy="502920"/>
          </a:xfrm>
          <a:prstGeom prst="rect">
            <a:avLst/>
          </a:prstGeom>
          <a:solidFill>
            <a:srgbClr val="A0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990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0BE"/>
                </a:solidFill>
              </a:rPr>
              <a:t>SIN ACTIVIDAD  &lt; P25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2278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FD8E0"/>
                </a:solidFill>
              </a:rPr>
              <a:t>Requieren plan de fortalecimiento o reorientación.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51960"/>
            <a:ext cx="11430000" cy="36576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3"/>
                </a:solidFill>
              </a:rPr>
              <a:t>🔬  FCQS es pilar de VÍA 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8912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Concentra investigadores élite en salud, química y biociencias.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8A"/>
                </a:solidFill>
              </a:rPr>
              <a:t>🌾  FCA ancla la Vía A Agroalimentaria: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9204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Justificación técnica de la decisión piloto (Registro 003).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📋  Fase C — próximo paso: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9496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Cruzar IPPC élite con clusters temáticos → asignación individual por investigador.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Líneas Estratégicas por Tipo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Donde concentrar la inversión — respaldado por producción real</a:t>
            </a:r>
          </a:p>
        </p:txBody>
      </p:sp>
      <p:pic>
        <p:nvPicPr>
          <p:cNvPr id="6" name="Picture 5" descr="04_top_lineas_por_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403" y="1097280"/>
            <a:ext cx="6456145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572000"/>
            <a:ext cx="5394960" cy="32004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085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🔬  LÍNEAS VÍA A (Experimental)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56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Ambiente y conservación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85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Sistemas agroalimentarios sostenibles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14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Prevención, promoción y cuidados de salud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Manejo integral de entidades nosológicas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727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Procesos químicos y materiales sostenibles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572000"/>
            <a:ext cx="5394960" cy="32004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6085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LÍNEAS VÍA B (Social/Humanística)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956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Desarrollo económico y empresarial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285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Procesos educativos y formación humana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614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Justicia y gobernabilidad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Justicia social, desarrollo humano y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62727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▸  Comunicación digital, educación e innovación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92240"/>
            <a:ext cx="11430000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A623"/>
                </a:solidFill>
              </a:rPr>
              <a:t>Estas líneas son la base para los Reglamentos de los Centros (Fase D) — no genéricas, sino con producción demostrada.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Dashboard Ejecutivo: Panorama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El ecosistema de investigación UTMACH en una sola vista</a:t>
            </a:r>
          </a:p>
        </p:txBody>
      </p:sp>
      <p:pic>
        <p:nvPicPr>
          <p:cNvPr id="6" name="Picture 5" descr="06_dashboard_ejecu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27" y="1097280"/>
            <a:ext cx="5533696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440680"/>
            <a:ext cx="2864358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440680"/>
            <a:ext cx="2864358" cy="73152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AC3"/>
                </a:solidFill>
              </a:rPr>
              <a:t>2.919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26814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artículos analizados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2998" y="5440680"/>
            <a:ext cx="2864358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5440680"/>
            <a:ext cx="2864358" cy="7315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4438" y="557784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8A"/>
                </a:solidFill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4438" y="6080760"/>
            <a:ext cx="26814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unidades de investigación (4+4)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0236" y="5440680"/>
            <a:ext cx="2864358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0236" y="5440680"/>
            <a:ext cx="2864358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1676" y="557784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88.4%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1676" y="6080760"/>
            <a:ext cx="26814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producción con asignación estructurada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7474" y="5440680"/>
            <a:ext cx="2864358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7474" y="5440680"/>
            <a:ext cx="2864358" cy="7315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98914" y="557784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3B3B"/>
                </a:solidFill>
              </a:rPr>
              <a:t>~1.120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8914" y="6080760"/>
            <a:ext cx="26814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BE"/>
                </a:solidFill>
              </a:rPr>
              <a:t>puntos de impacto ponderado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 de Acción — Roadmap: Fases C y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De los datos a la reglamentación — el camino ya trazado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38404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COMPLETADO — Fase A: Diagnóstico y Datos (Febrero 2026)  ·  Fase B: Análisis de Viabilidad (Marzo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394960" cy="384048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⏳  FASE C — Propuesta de Centros  (Marzo – Abril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C.1  →  Cruzar investigadores élite IPPC con clusters temáticos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620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C.2  →  Elaborar propuestas técnicas por cada Centro / Observatorio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1071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C.3  →  Definición formal de líneas de investigación por unidad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935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C.4  →  Presentación a Consejos de Facultad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53949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⏳  FASE D — Reglamentación  (Abril 2026)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4028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134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D.1  →  Revisión normativa: LOES, CES, Estatuto Universitario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8620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D.2  →  Redacción del Reglamento General de Centros y Observatorios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37560"/>
            <a:ext cx="539496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41071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D8E0"/>
                </a:solidFill>
              </a:rPr>
              <a:t>D.3  →  Aprobación por Consejo Universitario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783080"/>
            <a:ext cx="54864" cy="246888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11430000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120640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93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DECISIÓN QUE SE REQUIERE HOY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D8E0"/>
                </a:solidFill>
              </a:rPr>
              <a:t>Aprobación de la arquitectura de dos vías (4 Centros + 4 Observatorios).
Esto activa de inmediato la Fase C: cruce IPPC élite × clusters temáticos
y la presentación técnica a cada Facultad durante Abril 2026.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 Nueva Arquitectura — Sistema de Dos Vías UTMACH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2.919 artículos analizados → 8 unidades de investigación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75895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23444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SISTEMA DE INVESTIGACIÓN UTMACH · 2.919 artículos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303520" cy="45720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🔬  VÍA A — EXPERIMENTAL  (47% · 1.371 art.)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Centro de Ciencias Químicas y Ambientales    [278 art. · 138.2 imp.]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Centro Experimental General                  [284 art. · 137.2 imp.]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930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Centro de Salud Integral y Biociencias       [265 art. · 126.6 imp.]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4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416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Centro Agroalimentario y Sostenibilidad      [178 art. ·  91.2 imp.]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26280"/>
            <a:ext cx="53035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90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3"/>
                </a:solidFill>
              </a:rPr>
              <a:t>💰  Alto presupuesto  ·  🔬  Laboratorios y equipos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828800"/>
            <a:ext cx="5303520" cy="4572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836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VÍA B — SOCIAL/HUMANÍSTICA  (41.4% · 1.209 art.)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33172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957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Observatorio de Economía, Empresa e Innovación   [547 art. · 269.6 imp.]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88036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9443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Observatorio de Educación y Formación Profesional[241 art. · 114.4 imp.]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42900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Observatorio de Derecho y Justicia Social        [127 art. ·  64.8 imp.]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977640"/>
            <a:ext cx="530352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416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▸  Observatorio de Desarrollo Social y PP           [ 94 art. ·  50.5 imp.]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526280"/>
            <a:ext cx="53035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90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8A"/>
                </a:solidFill>
              </a:rPr>
              <a:t>💡  Gestión ágil  ·  📊  Software, bases de datos, encuestas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828800"/>
            <a:ext cx="54864" cy="2944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Conclusión &amp;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8A"/>
                </a:solidFill>
              </a:rPr>
              <a:t>La UTMACH lista para elevar su visibilidad internacional financiando inteligentemente sus verdaderas fortalezas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94360" cy="86868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554480"/>
            <a:ext cx="1051560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002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3"/>
                </a:solidFill>
              </a:rPr>
              <a:t>Los datos hablan claro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65960"/>
            <a:ext cx="1024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47% experimental + 41% social = dos ciencias distintas que merecen dos estrategias de inversión distintas. Sin ambigüedades.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594360" cy="86868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7919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1051560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6032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8A"/>
                </a:solidFill>
              </a:rPr>
              <a:t>La masa crítica existe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26080"/>
            <a:ext cx="1024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Los investigadores élite y consolidados identificados por IPPC son suficientes para activar los 4 Centros y los 4 Observatorios sin reclutar externamente.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594360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3931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474720"/>
            <a:ext cx="1051560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52044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El sistema ya está diseñado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4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FD8E0"/>
                </a:solidFill>
              </a:rPr>
              <a:t>Fases A y B: 100% completadas. La decisión que se toma hoy activa las Fases C y D hacia la reglamentación por el Consejo Universitario.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72000"/>
            <a:ext cx="9418320" cy="105156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66344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APROBEMOS HOY LA ARQUITECTURA DE DOS VÍAS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02352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Cruzar IPPC élite × clusters temáticos  →  Propuestas técnicas a Facultades  →  Reglamentación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B0BE"/>
                </a:solidFill>
              </a:rPr>
              <a:t>"No diseñamos centros. Descubrimos los que la UTMACH ya construyó con su producción científica."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Respaldo Técnico — Apéndice Metodológico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3"/>
                </a:solidFill>
              </a:rPr>
              <a:t>Para preguntas técnicas y auditoría del proceso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347472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2.919 artículos de revista (excl. libros, capítulos de libro)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67128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311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Variables: título · abstract · línea de investigación · cuartil Scopus/WoS · año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15768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79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87.3% de artículos sin cuartil Scopus/WoS — ponderación crítica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 NLP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824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TF-IDF con bigramas + stopwords académicas en español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67128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311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K-Means con Silhouette Score → K=20 óptimo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15768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79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Ponderación: Q1=1.0 · Q2=0.9 · Q3=0.8 · Q4=0.7 · Sin cuartil=0.2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4864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CLASIFICADOR EXPERIMENTAL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33087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9709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Léxico experimental: laboratorio, espectroscopía, cultivo, muestra...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81727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4573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Léxico social: encuesta, política pública, análisis documental...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30367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9437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Clasificación léxico-semántica sobre 2.919 artículos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486400" cy="34747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947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REPRODUCIBILIDAD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33087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9709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Scripts Python — versionados en GitHub (DIDI-UTMACH)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681727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74573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master_analysis.py  ·  generate_figures.py  ·  generate_pptx.py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5230367"/>
            <a:ext cx="5486400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29437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E0"/>
                </a:solidFill>
              </a:rPr>
              <a:t>·  Datos: produccion_clasificada_definitiva.csv · impacto_por_centro_definitivo.csv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BE"/>
                </a:solidFill>
              </a:rPr>
              <a:t>UTMACH · DIDI · Marzo 2026 · Análisis de 2.919 artículos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